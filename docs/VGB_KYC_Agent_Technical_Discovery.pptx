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Presentation2.pptx, technical discovery class notes.</a:t>
            </a:r>
            <a:br>
              <a:rPr lang="en-US"/>
            </a:br>
            <a:r>
              <a:rPr lang="en-US"/>
              <a:t>Visual on this slide was generated with Microsoft Copilot.</a:t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User-provided Veridian Global Bank project handover.</a:t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Presentation2.pptx, slides 4–5 and 8: three-step technical discovery loop, good vs. bad discovery, and question-bank guidance.</a:t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Presentation2.pptx, slides 4–5 and 8: use recent concrete examples and follow the discovery loop.</a:t>
            </a:r>
            <a:br>
              <a:rPr lang="en-US"/>
            </a:br>
            <a:r>
              <a:rPr lang="en-US"/>
              <a:t>The KYC process sequence shown is a discovery hypothesis to be validated with VGB.</a:t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Presentation2.pptx, slide 5: stronger discovery technique asks about what actually happened rather than proposing a solution.</a:t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User-provided project context: regulated KYC process under MAS scrutiny.</a:t>
            </a:r>
            <a:br>
              <a:rPr lang="en-US"/>
            </a:br>
            <a:r>
              <a:rPr lang="en-US"/>
              <a:t>The authority classification is a proposed discovery device, not a confirmed VGB policy.</a:t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Anthropic, “Building Effective AI Agents”: start with the simplest solution; workflows provide predictability while agents provide model-directed flexibility.</a:t>
            </a:r>
            <a:br>
              <a:rPr lang="en-US"/>
            </a:br>
            <a:r>
              <a:rPr lang="en-US"/>
              <a:t>https://www.anthropic.com/engineering/building-effective-agents</a:t>
            </a:r>
            <a:endParaRPr/>
          </a:p>
        </p:txBody>
      </p:sp>
      <p:sp>
        <p:nvSpPr>
          <p:cNvPr id="208" name="Google Shape;20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User requested functional and non-functional discovery including ownership, runtime, cloud allowance, locations and country/region constraints.</a:t>
            </a:r>
            <a:endParaRPr/>
          </a:p>
        </p:txBody>
      </p:sp>
      <p:sp>
        <p:nvSpPr>
          <p:cNvPr id="232" name="Google Shape;2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User-provided project handover identifies Victor Ong, Grace Lim, Raj Menon, Ben Tan and Anna Cruz and their roles.</a:t>
            </a:r>
            <a:endParaRPr/>
          </a:p>
        </p:txBody>
      </p:sp>
      <p:sp>
        <p:nvSpPr>
          <p:cNvPr id="266" name="Google Shape;2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Anthropic planning-to-production guidance: establish measurable success criteria, evaluate thoroughly and scale gradually.</a:t>
            </a:r>
            <a:br>
              <a:rPr lang="en-US"/>
            </a:br>
            <a:r>
              <a:rPr lang="en-US"/>
              <a:t>User-provided VGB scenario and proposed real-case discovery method.</a:t>
            </a:r>
            <a:endParaRPr/>
          </a:p>
        </p:txBody>
      </p:sp>
      <p:sp>
        <p:nvSpPr>
          <p:cNvPr id="301" name="Google Shape;30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Presentation2.pptx, slides 6 and 10–11: prioritize opportunities on impact and feasibility, and let the room decide ordering.</a:t>
            </a:r>
            <a:br>
              <a:rPr lang="en-US"/>
            </a:br>
            <a:r>
              <a:rPr lang="en-US"/>
              <a:t>Candidate sticky notes are working hypotheses, not confirmed VGB findings.</a:t>
            </a:r>
            <a:endParaRPr/>
          </a:p>
        </p:txBody>
      </p:sp>
      <p:sp>
        <p:nvSpPr>
          <p:cNvPr id="334" name="Google Shape;33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Anthropic-aligned working hypothesis based on the user-provided VGB scenario.</a:t>
            </a:r>
            <a:br>
              <a:rPr lang="en-US"/>
            </a:br>
            <a:r>
              <a:rPr lang="en-US"/>
              <a:t>Visual on this slide was generated with Microsoft Copilot.</a:t>
            </a:r>
            <a:endParaRPr/>
          </a:p>
        </p:txBody>
      </p:sp>
      <p:sp>
        <p:nvSpPr>
          <p:cNvPr id="367" name="Google Shape;3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6F1E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06455"/>
          </a:solidFill>
          <a:ln cap="flat" cmpd="sng" w="12700">
            <a:solidFill>
              <a:srgbClr val="F06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50292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VGB KYC AGENT  |  TECHNICAL DISCOVERY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8412480" y="6510528"/>
            <a:ext cx="32461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ANTHROPIC-ALIGNED DISCOVERY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E4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enerated_image_6415142F6402_03.png" id="22" name="Google Shape;22;p4"/>
          <p:cNvPicPr preferRelativeResize="0"/>
          <p:nvPr/>
        </p:nvPicPr>
        <p:blipFill rotWithShape="1">
          <a:blip r:embed="rId3">
            <a:alphaModFix/>
          </a:blip>
          <a:srcRect b="0" l="24089" r="24089" t="0"/>
          <a:stretch/>
        </p:blipFill>
        <p:spPr>
          <a:xfrm>
            <a:off x="6858000" y="0"/>
            <a:ext cx="5330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/>
          <p:nvPr/>
        </p:nvSpPr>
        <p:spPr>
          <a:xfrm>
            <a:off x="0" y="0"/>
            <a:ext cx="7635240" cy="6858000"/>
          </a:xfrm>
          <a:prstGeom prst="rect">
            <a:avLst/>
          </a:prstGeom>
          <a:solidFill>
            <a:srgbClr val="0B2E4F">
              <a:alpha val="96078"/>
            </a:srgbClr>
          </a:solidFill>
          <a:ln cap="flat" cmpd="sng" w="12700">
            <a:solidFill>
              <a:srgbClr val="0B2E4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640080" y="685800"/>
            <a:ext cx="5212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B1A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7B1A8"/>
                </a:solidFill>
                <a:latin typeface="Arial"/>
                <a:ea typeface="Arial"/>
                <a:cs typeface="Arial"/>
                <a:sym typeface="Arial"/>
              </a:rPr>
              <a:t>TECHNICAL DISCOVERY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40080" y="1234440"/>
            <a:ext cx="56692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Veridian Global Bank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KYC Agent MVP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58368" y="2926080"/>
            <a:ext cx="5349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6EE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DCE6EE"/>
                </a:solidFill>
                <a:latin typeface="Arial"/>
                <a:ea typeface="Arial"/>
                <a:cs typeface="Arial"/>
                <a:sym typeface="Arial"/>
              </a:rPr>
              <a:t>A hypothesis-led discovery plan grounded in real cases, regulatory controls, technical feasibility and measurable business impact.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58368" y="4251960"/>
            <a:ext cx="1572768" cy="347472"/>
          </a:xfrm>
          <a:prstGeom prst="roundRect">
            <a:avLst>
              <a:gd fmla="val 47368" name="adj"/>
            </a:avLst>
          </a:prstGeom>
          <a:solidFill>
            <a:srgbClr val="F06455"/>
          </a:solidFill>
          <a:ln cap="flat" cmpd="sng" w="12700">
            <a:solidFill>
              <a:srgbClr val="F06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731520" y="4325112"/>
            <a:ext cx="142646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 CASES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2359152" y="4251960"/>
            <a:ext cx="1719072" cy="347472"/>
          </a:xfrm>
          <a:prstGeom prst="roundRect">
            <a:avLst>
              <a:gd fmla="val 47368" name="adj"/>
            </a:avLst>
          </a:prstGeom>
          <a:solidFill>
            <a:srgbClr val="198A8A"/>
          </a:solidFill>
          <a:ln cap="flat" cmpd="sng" w="12700">
            <a:solidFill>
              <a:srgbClr val="19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2432304" y="4325112"/>
            <a:ext cx="15727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HUMAN CONTROL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206240" y="4251960"/>
            <a:ext cx="1417320" cy="347472"/>
          </a:xfrm>
          <a:prstGeom prst="roundRect">
            <a:avLst>
              <a:gd fmla="val 47368" name="adj"/>
            </a:avLst>
          </a:prstGeom>
          <a:solidFill>
            <a:srgbClr val="C6984A"/>
          </a:solidFill>
          <a:ln cap="flat" cmpd="sng" w="12700">
            <a:solidFill>
              <a:srgbClr val="C69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279392" y="4325112"/>
            <a:ext cx="12710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MVP FIRST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58368" y="5806440"/>
            <a:ext cx="5623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7D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7C7D4"/>
                </a:solidFill>
                <a:latin typeface="Arial"/>
                <a:ea typeface="Arial"/>
                <a:cs typeface="Arial"/>
                <a:sym typeface="Arial"/>
              </a:rPr>
              <a:t>Singapore  |  Periodic KYC reviews  |  Analyst-assist POC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 txBox="1"/>
          <p:nvPr>
            <p:ph idx="4294967295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E6B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548640" y="347472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ENGAGEMENT CONTEXT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548640" y="71323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What is known, and what still needs to be proven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66928" y="129844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The handover identifies urgency and stakeholders, but not yet a buildable MVP.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94360" y="1874520"/>
            <a:ext cx="2743200" cy="338328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12700">
              <a:srgbClr val="000000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94360" y="1874520"/>
            <a:ext cx="64008" cy="3383280"/>
          </a:xfrm>
          <a:prstGeom prst="rect">
            <a:avLst/>
          </a:prstGeom>
          <a:solidFill>
            <a:srgbClr val="BE4B49"/>
          </a:solidFill>
          <a:ln cap="flat" cmpd="sng" w="12700">
            <a:solidFill>
              <a:srgbClr val="BE4B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822960" y="20574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Business pressure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822960" y="2441448"/>
            <a:ext cx="2331720" cy="26700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MAS flagged a backlog of periodic KYC reviews. The backlog exposes VGB’s growth plans to further scrutiny.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3566160" y="1874520"/>
            <a:ext cx="2743200" cy="338328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3566160" y="1874520"/>
            <a:ext cx="64008" cy="3383280"/>
          </a:xfrm>
          <a:prstGeom prst="rect">
            <a:avLst/>
          </a:prstGeom>
          <a:solidFill>
            <a:srgbClr val="C6984A"/>
          </a:solidFill>
          <a:ln cap="flat" cmpd="sng" w="12700">
            <a:solidFill>
              <a:srgbClr val="C69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3794760" y="205740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Executive expectation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794760" y="2441448"/>
            <a:ext cx="2331720" cy="26700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Grace wants a working proof of concept that can be demonstrated to leadership and open a larger engagement.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537960" y="1874520"/>
            <a:ext cx="2377440" cy="338328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537960" y="1874520"/>
            <a:ext cx="64008" cy="3383280"/>
          </a:xfrm>
          <a:prstGeom prst="rect">
            <a:avLst/>
          </a:prstGeom>
          <a:solidFill>
            <a:srgbClr val="F06455"/>
          </a:solidFill>
          <a:ln cap="flat" cmpd="sng" w="12700">
            <a:solidFill>
              <a:srgbClr val="F06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766560" y="20574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Current uncertainty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766560" y="2441448"/>
            <a:ext cx="1965960" cy="26700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The requested “agent” is not defined. Stakeholders did not agree on the target capability, scope or proof.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9144000" y="1874520"/>
            <a:ext cx="2423160" cy="3383280"/>
          </a:xfrm>
          <a:prstGeom prst="roundRect">
            <a:avLst>
              <a:gd fmla="val 3019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9144000" y="1874520"/>
            <a:ext cx="64008" cy="3383280"/>
          </a:xfrm>
          <a:prstGeom prst="rect">
            <a:avLst/>
          </a:prstGeom>
          <a:solidFill>
            <a:srgbClr val="198A8A"/>
          </a:solidFill>
          <a:ln cap="flat" cmpd="sng" w="12700">
            <a:solidFill>
              <a:srgbClr val="19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9372600" y="2057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Critical dependency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9372600" y="2441448"/>
            <a:ext cx="2011680" cy="267004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Data access is only described as possible. Runtime, region, security and integration constraints remain unknown.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188720" y="5532120"/>
            <a:ext cx="9784080" cy="566928"/>
          </a:xfrm>
          <a:prstGeom prst="roundRect">
            <a:avLst>
              <a:gd fmla="val 19355" name="adj"/>
            </a:avLst>
          </a:prstGeom>
          <a:solidFill>
            <a:srgbClr val="0B2E4F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417320" y="5687568"/>
            <a:ext cx="9326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Discovery outcome: one jointly agreed MVP with explicit value, control boundaries, technical dependencies and success gates.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 txBox="1"/>
          <p:nvPr>
            <p:ph idx="4294967295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E6B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548640" y="347472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CLASS METHOD APPLIED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48640" y="71323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Run discovery as a correction loop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566928" y="129844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Do not gather opinions in isolation. Start with a hypothesis, inspect an actual case, then play it back.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731520" y="2011680"/>
            <a:ext cx="283464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731520" y="2011680"/>
            <a:ext cx="64008" cy="2148840"/>
          </a:xfrm>
          <a:prstGeom prst="rect">
            <a:avLst/>
          </a:prstGeom>
          <a:solidFill>
            <a:srgbClr val="0B2E4F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960120" y="219456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1  Start with what you know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960120" y="2578608"/>
            <a:ext cx="2423160" cy="1435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State the current understanding and the hypothesis being tested.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6"/>
          <p:cNvCxnSpPr/>
          <p:nvPr/>
        </p:nvCxnSpPr>
        <p:spPr>
          <a:xfrm>
            <a:off x="3611880" y="3090672"/>
            <a:ext cx="502920" cy="1"/>
          </a:xfrm>
          <a:prstGeom prst="straightConnector1">
            <a:avLst/>
          </a:prstGeom>
          <a:noFill/>
          <a:ln cap="flat" cmpd="sng" w="25400">
            <a:solidFill>
              <a:srgbClr val="F064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" name="Google Shape;75;p6"/>
          <p:cNvSpPr/>
          <p:nvPr/>
        </p:nvSpPr>
        <p:spPr>
          <a:xfrm>
            <a:off x="4224528" y="2011680"/>
            <a:ext cx="283464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4224528" y="2011680"/>
            <a:ext cx="64008" cy="2148840"/>
          </a:xfrm>
          <a:prstGeom prst="rect">
            <a:avLst/>
          </a:prstGeom>
          <a:solidFill>
            <a:srgbClr val="C6984A"/>
          </a:solidFill>
          <a:ln cap="flat" cmpd="sng" w="12700">
            <a:solidFill>
              <a:srgbClr val="C69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4453128" y="219456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2  Dig until you get a real example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453128" y="2578608"/>
            <a:ext cx="2423160" cy="1435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Ask “show me,” “walk me through it,” and “what happened next?”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Google Shape;79;p6"/>
          <p:cNvCxnSpPr/>
          <p:nvPr/>
        </p:nvCxnSpPr>
        <p:spPr>
          <a:xfrm>
            <a:off x="7104888" y="3090672"/>
            <a:ext cx="502920" cy="1"/>
          </a:xfrm>
          <a:prstGeom prst="straightConnector1">
            <a:avLst/>
          </a:prstGeom>
          <a:noFill/>
          <a:ln cap="flat" cmpd="sng" w="25400">
            <a:solidFill>
              <a:srgbClr val="F064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" name="Google Shape;80;p6"/>
          <p:cNvSpPr/>
          <p:nvPr/>
        </p:nvSpPr>
        <p:spPr>
          <a:xfrm>
            <a:off x="7717536" y="2011680"/>
            <a:ext cx="2834640" cy="2148840"/>
          </a:xfrm>
          <a:prstGeom prst="roundRect">
            <a:avLst>
              <a:gd fmla="val 3404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7717536" y="2011680"/>
            <a:ext cx="64008" cy="2148840"/>
          </a:xfrm>
          <a:prstGeom prst="rect">
            <a:avLst/>
          </a:prstGeom>
          <a:solidFill>
            <a:srgbClr val="F06455"/>
          </a:solidFill>
          <a:ln cap="flat" cmpd="sng" w="12700">
            <a:solidFill>
              <a:srgbClr val="F06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7946136" y="219456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3  Play it back and invite correction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7946136" y="2578608"/>
            <a:ext cx="2423160" cy="143560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Summarize the process, bottleneck and control boundary. Let corrections determine the next question.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6"/>
          <p:cNvCxnSpPr/>
          <p:nvPr/>
        </p:nvCxnSpPr>
        <p:spPr>
          <a:xfrm flipH="1">
            <a:off x="2148840" y="4343400"/>
            <a:ext cx="6995160" cy="1024128"/>
          </a:xfrm>
          <a:prstGeom prst="straightConnector1">
            <a:avLst/>
          </a:prstGeom>
          <a:noFill/>
          <a:ln cap="flat" cmpd="sng" w="25400">
            <a:solidFill>
              <a:srgbClr val="F0645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" name="Google Shape;85;p6"/>
          <p:cNvSpPr/>
          <p:nvPr/>
        </p:nvSpPr>
        <p:spPr>
          <a:xfrm>
            <a:off x="3703320" y="50292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The correction identifies where to dig next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49808" y="5358384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Recommended opening playback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2971800" y="5468112"/>
            <a:ext cx="8183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“Our hypothesis is that the bottleneck may be evidence collection, comparison and narrative preparation rather than the final compliance decision. What have we misunderstood?”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>
            <p:ph idx="4294967295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E6B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548640" y="347472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ANCHOR THE INTERVIEWS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48640" y="71323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Use one recent KYC case as the backbone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566928" y="129844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The real case reveals actual work, wait states, workarounds, evidence, decisions and controls.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1097280" y="2066544"/>
            <a:ext cx="594360" cy="594360"/>
          </a:xfrm>
          <a:prstGeom prst="ellipse">
            <a:avLst/>
          </a:prstGeom>
          <a:solidFill>
            <a:srgbClr val="0B2E4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1097280" y="222199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66928" y="2816352"/>
            <a:ext cx="16642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Review enters queue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7"/>
          <p:cNvCxnSpPr/>
          <p:nvPr/>
        </p:nvCxnSpPr>
        <p:spPr>
          <a:xfrm>
            <a:off x="1737360" y="2359152"/>
            <a:ext cx="676656" cy="1"/>
          </a:xfrm>
          <a:prstGeom prst="straightConnector1">
            <a:avLst/>
          </a:prstGeom>
          <a:noFill/>
          <a:ln cap="flat" cmpd="sng" w="25400">
            <a:solidFill>
              <a:srgbClr val="C698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1" name="Google Shape;101;p7"/>
          <p:cNvSpPr/>
          <p:nvPr/>
        </p:nvSpPr>
        <p:spPr>
          <a:xfrm>
            <a:off x="2999232" y="2066544"/>
            <a:ext cx="594360" cy="594360"/>
          </a:xfrm>
          <a:prstGeom prst="ellipse">
            <a:avLst/>
          </a:prstGeom>
          <a:solidFill>
            <a:srgbClr val="0B2E4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2999232" y="222199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2468880" y="2816352"/>
            <a:ext cx="16642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Retrieve customer and prior KYC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7"/>
          <p:cNvCxnSpPr/>
          <p:nvPr/>
        </p:nvCxnSpPr>
        <p:spPr>
          <a:xfrm>
            <a:off x="3639312" y="2359152"/>
            <a:ext cx="676656" cy="1"/>
          </a:xfrm>
          <a:prstGeom prst="straightConnector1">
            <a:avLst/>
          </a:prstGeom>
          <a:noFill/>
          <a:ln cap="flat" cmpd="sng" w="25400">
            <a:solidFill>
              <a:srgbClr val="C698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" name="Google Shape;105;p7"/>
          <p:cNvSpPr/>
          <p:nvPr/>
        </p:nvSpPr>
        <p:spPr>
          <a:xfrm>
            <a:off x="4901184" y="2066544"/>
            <a:ext cx="594360" cy="594360"/>
          </a:xfrm>
          <a:prstGeom prst="ellipse">
            <a:avLst/>
          </a:prstGeom>
          <a:solidFill>
            <a:srgbClr val="0B2E4F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4901184" y="222199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370832" y="2816352"/>
            <a:ext cx="16642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Collect evidence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7"/>
          <p:cNvCxnSpPr/>
          <p:nvPr/>
        </p:nvCxnSpPr>
        <p:spPr>
          <a:xfrm>
            <a:off x="5541264" y="2359152"/>
            <a:ext cx="676656" cy="1"/>
          </a:xfrm>
          <a:prstGeom prst="straightConnector1">
            <a:avLst/>
          </a:prstGeom>
          <a:noFill/>
          <a:ln cap="flat" cmpd="sng" w="25400">
            <a:solidFill>
              <a:srgbClr val="C698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" name="Google Shape;109;p7"/>
          <p:cNvSpPr/>
          <p:nvPr/>
        </p:nvSpPr>
        <p:spPr>
          <a:xfrm>
            <a:off x="6803136" y="2066544"/>
            <a:ext cx="594360" cy="594360"/>
          </a:xfrm>
          <a:prstGeom prst="ellipse">
            <a:avLst/>
          </a:prstGeom>
          <a:solidFill>
            <a:srgbClr val="F0645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6803136" y="222199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272784" y="2816352"/>
            <a:ext cx="16642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Compare and identify changes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7"/>
          <p:cNvCxnSpPr/>
          <p:nvPr/>
        </p:nvCxnSpPr>
        <p:spPr>
          <a:xfrm>
            <a:off x="7443216" y="2359152"/>
            <a:ext cx="676656" cy="1"/>
          </a:xfrm>
          <a:prstGeom prst="straightConnector1">
            <a:avLst/>
          </a:prstGeom>
          <a:noFill/>
          <a:ln cap="flat" cmpd="sng" w="25400">
            <a:solidFill>
              <a:srgbClr val="C698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" name="Google Shape;113;p7"/>
          <p:cNvSpPr/>
          <p:nvPr/>
        </p:nvSpPr>
        <p:spPr>
          <a:xfrm>
            <a:off x="8705088" y="2066544"/>
            <a:ext cx="594360" cy="594360"/>
          </a:xfrm>
          <a:prstGeom prst="ellipse">
            <a:avLst/>
          </a:prstGeom>
          <a:solidFill>
            <a:srgbClr val="F0645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8705088" y="222199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8174736" y="2816352"/>
            <a:ext cx="16642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Draft and recommend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7"/>
          <p:cNvCxnSpPr/>
          <p:nvPr/>
        </p:nvCxnSpPr>
        <p:spPr>
          <a:xfrm>
            <a:off x="9345168" y="2359152"/>
            <a:ext cx="676656" cy="1"/>
          </a:xfrm>
          <a:prstGeom prst="straightConnector1">
            <a:avLst/>
          </a:prstGeom>
          <a:noFill/>
          <a:ln cap="flat" cmpd="sng" w="25400">
            <a:solidFill>
              <a:srgbClr val="C698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" name="Google Shape;117;p7"/>
          <p:cNvSpPr/>
          <p:nvPr/>
        </p:nvSpPr>
        <p:spPr>
          <a:xfrm>
            <a:off x="10607040" y="2066544"/>
            <a:ext cx="594360" cy="594360"/>
          </a:xfrm>
          <a:prstGeom prst="ellipse">
            <a:avLst/>
          </a:prstGeom>
          <a:solidFill>
            <a:srgbClr val="F06455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10607040" y="2221992"/>
            <a:ext cx="5943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0076688" y="2816352"/>
            <a:ext cx="16642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QA / approve / escalate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31520" y="3977640"/>
            <a:ext cx="315468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31520" y="3977640"/>
            <a:ext cx="64008" cy="1600200"/>
          </a:xfrm>
          <a:prstGeom prst="rect">
            <a:avLst/>
          </a:prstGeom>
          <a:solidFill>
            <a:srgbClr val="198A8A"/>
          </a:solidFill>
          <a:ln cap="flat" cmpd="sng" w="12700">
            <a:solidFill>
              <a:srgbClr val="19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960120" y="4160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Ask for evidence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960120" y="4544568"/>
            <a:ext cx="2743200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Show the case, systems opened, source records, final narrative and QA feedback.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160520" y="3977640"/>
            <a:ext cx="315468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160520" y="3977640"/>
            <a:ext cx="64008" cy="1600200"/>
          </a:xfrm>
          <a:prstGeom prst="rect">
            <a:avLst/>
          </a:prstGeom>
          <a:solidFill>
            <a:srgbClr val="C6984A"/>
          </a:solidFill>
          <a:ln cap="flat" cmpd="sng" w="12700">
            <a:solidFill>
              <a:srgbClr val="C69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389120" y="4160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Follow the exception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389120" y="4544568"/>
            <a:ext cx="2743200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Ask about the last slow case, returned case, conflicted source or compliance escalation.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589520" y="3977640"/>
            <a:ext cx="315468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7589520" y="3977640"/>
            <a:ext cx="64008" cy="1600200"/>
          </a:xfrm>
          <a:prstGeom prst="rect">
            <a:avLst/>
          </a:prstGeom>
          <a:solidFill>
            <a:srgbClr val="F06455"/>
          </a:solidFill>
          <a:ln cap="flat" cmpd="sng" w="12700">
            <a:solidFill>
              <a:srgbClr val="F06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7818120" y="4160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Capture the boundary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7818120" y="4544568"/>
            <a:ext cx="2743200" cy="8869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Identify what was deterministic, what required judgment, and who owned the decision.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 txBox="1"/>
          <p:nvPr>
            <p:ph idx="4294967295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E6B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548640" y="347472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FUNCTIONAL DISCOVERY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48640" y="71323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Discover the job before designing the agent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66928" y="129844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Each capability must be tied to a real analyst task and a specific control boundary.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85800" y="1828800"/>
            <a:ext cx="2423160" cy="594360"/>
          </a:xfrm>
          <a:prstGeom prst="roundRect">
            <a:avLst>
              <a:gd fmla="val 12308" name="adj"/>
            </a:avLst>
          </a:prstGeom>
          <a:solidFill>
            <a:srgbClr val="0B2E4F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868680" y="2011680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Evidence collection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3273552" y="1828800"/>
            <a:ext cx="818388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3493008" y="1947672"/>
            <a:ext cx="77724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Which sources were used? How did the analyst know where to look? What was copied or reconciled manually?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85800" y="2633472"/>
            <a:ext cx="2423160" cy="594360"/>
          </a:xfrm>
          <a:prstGeom prst="roundRect">
            <a:avLst>
              <a:gd fmla="val 12308" name="adj"/>
            </a:avLst>
          </a:prstGeom>
          <a:solidFill>
            <a:srgbClr val="153F62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868680" y="2816352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Change detection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273552" y="2633472"/>
            <a:ext cx="818388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3493008" y="2752344"/>
            <a:ext cx="77724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Show a case with a material change. Which differences mattered and how was materiality determined?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85800" y="3438144"/>
            <a:ext cx="2423160" cy="594360"/>
          </a:xfrm>
          <a:prstGeom prst="roundRect">
            <a:avLst>
              <a:gd fmla="val 12308" name="adj"/>
            </a:avLst>
          </a:prstGeom>
          <a:solidFill>
            <a:srgbClr val="0B2E4F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868680" y="3621024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Narrative preparation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3273552" y="3438144"/>
            <a:ext cx="818388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3493008" y="3557016"/>
            <a:ext cx="77724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Show the source material and final narrative. Which sections required judgment and what causes QA rejection?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85800" y="4242816"/>
            <a:ext cx="2423160" cy="594360"/>
          </a:xfrm>
          <a:prstGeom prst="roundRect">
            <a:avLst>
              <a:gd fmla="val 12308" name="adj"/>
            </a:avLst>
          </a:prstGeom>
          <a:solidFill>
            <a:srgbClr val="153F62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868680" y="4425696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recommendation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3273552" y="4242816"/>
            <a:ext cx="818388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3493008" y="4361688"/>
            <a:ext cx="77724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Show a difficult recommendation. Which policy and evidence supported it? What required escalation?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85800" y="5047488"/>
            <a:ext cx="2423160" cy="594360"/>
          </a:xfrm>
          <a:prstGeom prst="roundRect">
            <a:avLst>
              <a:gd fmla="val 12308" name="adj"/>
            </a:avLst>
          </a:prstGeom>
          <a:solidFill>
            <a:srgbClr val="0B2E4F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868680" y="5230368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Exception handling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273552" y="5047488"/>
            <a:ext cx="818388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3493008" y="5166360"/>
            <a:ext cx="77724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What happened when data was missing, sources conflicted, or a tool was unavailable?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1097280" y="5916168"/>
            <a:ext cx="9966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Avoid asking “Would an agent help?” before the real task, evidence and failure modes are understood.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 txBox="1"/>
          <p:nvPr>
            <p:ph idx="4294967295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E6B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/>
          <p:nvPr/>
        </p:nvSpPr>
        <p:spPr>
          <a:xfrm>
            <a:off x="548640" y="347472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CONTROL BOUNDARY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548640" y="71323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Classify every capability by authority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66928" y="129844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A regulated agent must be explicit about what Claude may do, what needs confirmation and what remains human-only.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02920" y="1920240"/>
            <a:ext cx="1371600" cy="566928"/>
          </a:xfrm>
          <a:prstGeom prst="roundRect">
            <a:avLst>
              <a:gd fmla="val 17742" name="adj"/>
            </a:avLst>
          </a:prstGeom>
          <a:solidFill>
            <a:srgbClr val="198A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548640" y="2112264"/>
            <a:ext cx="12801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RETRIEVE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9"/>
          <p:cNvCxnSpPr/>
          <p:nvPr/>
        </p:nvCxnSpPr>
        <p:spPr>
          <a:xfrm>
            <a:off x="1892808" y="2203704"/>
            <a:ext cx="228600" cy="1"/>
          </a:xfrm>
          <a:prstGeom prst="straightConnector1">
            <a:avLst/>
          </a:prstGeom>
          <a:noFill/>
          <a:ln cap="flat" cmpd="sng" w="25400">
            <a:solidFill>
              <a:srgbClr val="0B2E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4" name="Google Shape;174;p9"/>
          <p:cNvSpPr/>
          <p:nvPr/>
        </p:nvSpPr>
        <p:spPr>
          <a:xfrm>
            <a:off x="2167128" y="1920240"/>
            <a:ext cx="1371600" cy="566928"/>
          </a:xfrm>
          <a:prstGeom prst="roundRect">
            <a:avLst>
              <a:gd fmla="val 17742" name="adj"/>
            </a:avLst>
          </a:prstGeom>
          <a:solidFill>
            <a:srgbClr val="198A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2212848" y="2112264"/>
            <a:ext cx="12801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9"/>
          <p:cNvCxnSpPr/>
          <p:nvPr/>
        </p:nvCxnSpPr>
        <p:spPr>
          <a:xfrm>
            <a:off x="3557016" y="2203704"/>
            <a:ext cx="228600" cy="1"/>
          </a:xfrm>
          <a:prstGeom prst="straightConnector1">
            <a:avLst/>
          </a:prstGeom>
          <a:noFill/>
          <a:ln cap="flat" cmpd="sng" w="25400">
            <a:solidFill>
              <a:srgbClr val="0B2E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7" name="Google Shape;177;p9"/>
          <p:cNvSpPr/>
          <p:nvPr/>
        </p:nvSpPr>
        <p:spPr>
          <a:xfrm>
            <a:off x="3831336" y="1920240"/>
            <a:ext cx="1371600" cy="566928"/>
          </a:xfrm>
          <a:prstGeom prst="roundRect">
            <a:avLst>
              <a:gd fmla="val 17742" name="adj"/>
            </a:avLst>
          </a:prstGeom>
          <a:solidFill>
            <a:srgbClr val="198A8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"/>
          <p:cNvSpPr/>
          <p:nvPr/>
        </p:nvSpPr>
        <p:spPr>
          <a:xfrm>
            <a:off x="3877056" y="2112264"/>
            <a:ext cx="12801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SUMMARIZE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9"/>
          <p:cNvCxnSpPr/>
          <p:nvPr/>
        </p:nvCxnSpPr>
        <p:spPr>
          <a:xfrm>
            <a:off x="5221224" y="2203704"/>
            <a:ext cx="228600" cy="1"/>
          </a:xfrm>
          <a:prstGeom prst="straightConnector1">
            <a:avLst/>
          </a:prstGeom>
          <a:noFill/>
          <a:ln cap="flat" cmpd="sng" w="25400">
            <a:solidFill>
              <a:srgbClr val="0B2E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0" name="Google Shape;180;p9"/>
          <p:cNvSpPr/>
          <p:nvPr/>
        </p:nvSpPr>
        <p:spPr>
          <a:xfrm>
            <a:off x="5495544" y="1920240"/>
            <a:ext cx="1371600" cy="566928"/>
          </a:xfrm>
          <a:prstGeom prst="roundRect">
            <a:avLst>
              <a:gd fmla="val 17742" name="adj"/>
            </a:avLst>
          </a:prstGeom>
          <a:solidFill>
            <a:srgbClr val="C6984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5541264" y="2112264"/>
            <a:ext cx="12801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RECOMMEND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9"/>
          <p:cNvCxnSpPr/>
          <p:nvPr/>
        </p:nvCxnSpPr>
        <p:spPr>
          <a:xfrm>
            <a:off x="6885432" y="2203704"/>
            <a:ext cx="228600" cy="1"/>
          </a:xfrm>
          <a:prstGeom prst="straightConnector1">
            <a:avLst/>
          </a:prstGeom>
          <a:noFill/>
          <a:ln cap="flat" cmpd="sng" w="25400">
            <a:solidFill>
              <a:srgbClr val="0B2E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" name="Google Shape;183;p9"/>
          <p:cNvSpPr/>
          <p:nvPr/>
        </p:nvSpPr>
        <p:spPr>
          <a:xfrm>
            <a:off x="7159752" y="1920240"/>
            <a:ext cx="1371600" cy="566928"/>
          </a:xfrm>
          <a:prstGeom prst="roundRect">
            <a:avLst>
              <a:gd fmla="val 17742" name="adj"/>
            </a:avLst>
          </a:prstGeom>
          <a:solidFill>
            <a:srgbClr val="C6984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7205472" y="2112264"/>
            <a:ext cx="12801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WRITE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9"/>
          <p:cNvCxnSpPr/>
          <p:nvPr/>
        </p:nvCxnSpPr>
        <p:spPr>
          <a:xfrm>
            <a:off x="8549640" y="2203704"/>
            <a:ext cx="228600" cy="1"/>
          </a:xfrm>
          <a:prstGeom prst="straightConnector1">
            <a:avLst/>
          </a:prstGeom>
          <a:noFill/>
          <a:ln cap="flat" cmpd="sng" w="25400">
            <a:solidFill>
              <a:srgbClr val="0B2E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9"/>
          <p:cNvSpPr/>
          <p:nvPr/>
        </p:nvSpPr>
        <p:spPr>
          <a:xfrm>
            <a:off x="8823960" y="1920240"/>
            <a:ext cx="1371600" cy="566928"/>
          </a:xfrm>
          <a:prstGeom prst="roundRect">
            <a:avLst>
              <a:gd fmla="val 17742" name="adj"/>
            </a:avLst>
          </a:prstGeom>
          <a:solidFill>
            <a:srgbClr val="BE4B4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8869680" y="2112264"/>
            <a:ext cx="12801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EXECUTE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9"/>
          <p:cNvCxnSpPr/>
          <p:nvPr/>
        </p:nvCxnSpPr>
        <p:spPr>
          <a:xfrm>
            <a:off x="10213848" y="2203704"/>
            <a:ext cx="228600" cy="1"/>
          </a:xfrm>
          <a:prstGeom prst="straightConnector1">
            <a:avLst/>
          </a:prstGeom>
          <a:noFill/>
          <a:ln cap="flat" cmpd="sng" w="25400">
            <a:solidFill>
              <a:srgbClr val="0B2E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" name="Google Shape;189;p9"/>
          <p:cNvSpPr/>
          <p:nvPr/>
        </p:nvSpPr>
        <p:spPr>
          <a:xfrm>
            <a:off x="10488168" y="1920240"/>
            <a:ext cx="1371600" cy="566928"/>
          </a:xfrm>
          <a:prstGeom prst="roundRect">
            <a:avLst>
              <a:gd fmla="val 17742" name="adj"/>
            </a:avLst>
          </a:prstGeom>
          <a:solidFill>
            <a:srgbClr val="BE4B49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10533888" y="2112264"/>
            <a:ext cx="12801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APPROVE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777240" y="3063240"/>
            <a:ext cx="3337560" cy="2423160"/>
          </a:xfrm>
          <a:prstGeom prst="roundRect">
            <a:avLst>
              <a:gd fmla="val 3019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777240" y="3063240"/>
            <a:ext cx="64008" cy="2423160"/>
          </a:xfrm>
          <a:prstGeom prst="rect">
            <a:avLst/>
          </a:prstGeom>
          <a:solidFill>
            <a:srgbClr val="198A8A"/>
          </a:solidFill>
          <a:ln cap="flat" cmpd="sng" w="12700">
            <a:solidFill>
              <a:srgbClr val="19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1005840" y="32461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AI may perform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005840" y="3630168"/>
            <a:ext cx="292608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Read-only retrieval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Draft summaries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553712" y="3063240"/>
            <a:ext cx="3337560" cy="2423160"/>
          </a:xfrm>
          <a:prstGeom prst="roundRect">
            <a:avLst>
              <a:gd fmla="val 3019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553712" y="3063240"/>
            <a:ext cx="64008" cy="2423160"/>
          </a:xfrm>
          <a:prstGeom prst="rect">
            <a:avLst/>
          </a:prstGeom>
          <a:solidFill>
            <a:srgbClr val="C6984A"/>
          </a:solidFill>
          <a:ln cap="flat" cmpd="sng" w="12700">
            <a:solidFill>
              <a:srgbClr val="C69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4782312" y="32461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Human confirmation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782312" y="3630168"/>
            <a:ext cx="292608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Draft narrative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Selected write actions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8330184" y="3063240"/>
            <a:ext cx="3337560" cy="2423160"/>
          </a:xfrm>
          <a:prstGeom prst="roundRect">
            <a:avLst>
              <a:gd fmla="val 3019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8330184" y="3063240"/>
            <a:ext cx="64008" cy="2423160"/>
          </a:xfrm>
          <a:prstGeom prst="rect">
            <a:avLst/>
          </a:prstGeom>
          <a:solidFill>
            <a:srgbClr val="BE4B49"/>
          </a:solidFill>
          <a:ln cap="flat" cmpd="sng" w="12700">
            <a:solidFill>
              <a:srgbClr val="BE4B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8558784" y="32461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Human-only / prohibited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558784" y="3630168"/>
            <a:ext cx="2926080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Final disposition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Risk-rating changes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Case closure unless approved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914400" y="5779008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Discovery question: “In the case you showed us, which steps could a system complete without analyst judgment?”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 txBox="1"/>
          <p:nvPr>
            <p:ph idx="4294967295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E6B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548640" y="347472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ANTHROPIC ARCHITECTURE LENS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48640" y="71323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Use the simplest architecture that meets the requirement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66928" y="129844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Move from deterministic patterns to agentic autonomy only when the observed workflow needs adaptive decision-making.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594360" y="3886200"/>
            <a:ext cx="2331720" cy="1234440"/>
          </a:xfrm>
          <a:prstGeom prst="roundRect">
            <a:avLst>
              <a:gd fmla="val 5926" name="adj"/>
            </a:avLst>
          </a:prstGeom>
          <a:solidFill>
            <a:srgbClr val="E8E1D5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758952" y="4069080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Prompt + retrieval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758952" y="4544568"/>
            <a:ext cx="1993392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Known information need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3447288" y="3575304"/>
            <a:ext cx="2331720" cy="1545336"/>
          </a:xfrm>
          <a:prstGeom prst="roundRect">
            <a:avLst>
              <a:gd fmla="val 4734" name="adj"/>
            </a:avLst>
          </a:prstGeom>
          <a:solidFill>
            <a:srgbClr val="C8DBDD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3611880" y="3758184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Workflow + Claude steps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3611880" y="4233672"/>
            <a:ext cx="1993392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Predictable process with language tasks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300216" y="3264408"/>
            <a:ext cx="2331720" cy="1856232"/>
          </a:xfrm>
          <a:prstGeom prst="roundRect">
            <a:avLst>
              <a:gd fmla="val 3941" name="adj"/>
            </a:avLst>
          </a:prstGeom>
          <a:solidFill>
            <a:srgbClr val="7DB7B7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6464808" y="3447288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Single agent + constrained tools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6464808" y="3922776"/>
            <a:ext cx="199339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Dynamic investigation within limits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9153144" y="2953512"/>
            <a:ext cx="2331720" cy="2167128"/>
          </a:xfrm>
          <a:prstGeom prst="roundRect">
            <a:avLst>
              <a:gd fmla="val 3376" name="adj"/>
            </a:avLst>
          </a:prstGeom>
          <a:solidFill>
            <a:srgbClr val="0B2E4F"/>
          </a:solidFill>
          <a:ln cap="flat" cmpd="sng" w="15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9317736" y="313639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Multi-agent system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9317736" y="3611880"/>
            <a:ext cx="1993392" cy="1362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5ED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D9E5ED"/>
                </a:solidFill>
                <a:latin typeface="Arial"/>
                <a:ea typeface="Arial"/>
                <a:cs typeface="Arial"/>
                <a:sym typeface="Arial"/>
              </a:rPr>
              <a:t>Only when specialization is proven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3794760" y="5596128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Increasing flexibility, cost, latency and operational variability →</a:t>
            </a:r>
            <a:endParaRPr sz="11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1280160" y="1783080"/>
            <a:ext cx="9646920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6500">
            <a:solidFill>
              <a:srgbClr val="F06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1554480" y="1984248"/>
            <a:ext cx="9098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Working hypothesis for VGB: deterministic KYC workflow + one constrained Claude reasoning component + human approval checkpoints.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0"/>
          <p:cNvSpPr txBox="1"/>
          <p:nvPr>
            <p:ph idx="4294967295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E6B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548640" y="347472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TECHNICAL AND NON-FUNCTIONAL DISCOVERY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548640" y="71323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Tie every constraint to a demonstrated use case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566928" y="129844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The goal is a buildable boundary, not a generic NFR checklist.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658368" y="1783080"/>
            <a:ext cx="5230368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658368" y="1783080"/>
            <a:ext cx="64008" cy="1078992"/>
          </a:xfrm>
          <a:prstGeom prst="rect">
            <a:avLst/>
          </a:prstGeom>
          <a:solidFill>
            <a:srgbClr val="198A8A"/>
          </a:solidFill>
          <a:ln cap="flat" cmpd="sng" w="12700">
            <a:solidFill>
              <a:srgbClr val="19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886968" y="1965960"/>
            <a:ext cx="4818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Data &amp; tools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886968" y="235000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Source owner, API or UI, test data, read/write scope, lineage and reliability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6281928" y="1783080"/>
            <a:ext cx="5230368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6281928" y="1783080"/>
            <a:ext cx="64008" cy="1078992"/>
          </a:xfrm>
          <a:prstGeom prst="rect">
            <a:avLst/>
          </a:prstGeom>
          <a:solidFill>
            <a:srgbClr val="F06455"/>
          </a:solidFill>
          <a:ln cap="flat" cmpd="sng" w="12700">
            <a:solidFill>
              <a:srgbClr val="F06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6510528" y="1965960"/>
            <a:ext cx="4818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Runtime &amp; cloud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510528" y="2350008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Approved hosting, direct Anthropic or cloud path, container platform and internet access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658368" y="3127248"/>
            <a:ext cx="5230368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658368" y="3127248"/>
            <a:ext cx="64008" cy="1078992"/>
          </a:xfrm>
          <a:prstGeom prst="rect">
            <a:avLst/>
          </a:prstGeom>
          <a:solidFill>
            <a:srgbClr val="C6984A"/>
          </a:solidFill>
          <a:ln cap="flat" cmpd="sng" w="12700">
            <a:solidFill>
              <a:srgbClr val="C69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886968" y="3310128"/>
            <a:ext cx="4818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Region &amp; residency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886968" y="3694176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Where prompts, inference, embeddings, traces and evaluations may be processed or retained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6281928" y="3127248"/>
            <a:ext cx="5230368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6281928" y="3127248"/>
            <a:ext cx="64008" cy="1078992"/>
          </a:xfrm>
          <a:prstGeom prst="rect">
            <a:avLst/>
          </a:prstGeom>
          <a:solidFill>
            <a:srgbClr val="0B2E4F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6510528" y="3310128"/>
            <a:ext cx="4818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Identity &amp; authorization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510528" y="3694176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User versus service identity, RBAC, case entitlements and downstream authorization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658368" y="4471416"/>
            <a:ext cx="5230368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658368" y="4471416"/>
            <a:ext cx="64008" cy="1078992"/>
          </a:xfrm>
          <a:prstGeom prst="rect">
            <a:avLst/>
          </a:prstGeom>
          <a:solidFill>
            <a:srgbClr val="BE4B49"/>
          </a:solidFill>
          <a:ln cap="flat" cmpd="sng" w="12700">
            <a:solidFill>
              <a:srgbClr val="BE4B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886968" y="4654296"/>
            <a:ext cx="4818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Security &amp; audit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886968" y="5038344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Secrets, encryption, redaction, immutable records, model/prompt/tool version and kill switch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6281928" y="4471416"/>
            <a:ext cx="5230368" cy="1078992"/>
          </a:xfrm>
          <a:prstGeom prst="roundRect">
            <a:avLst>
              <a:gd fmla="val 6780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6281928" y="4471416"/>
            <a:ext cx="64008" cy="1078992"/>
          </a:xfrm>
          <a:prstGeom prst="rect">
            <a:avLst/>
          </a:prstGeom>
          <a:solidFill>
            <a:srgbClr val="6A8D73"/>
          </a:solidFill>
          <a:ln cap="flat" cmpd="sng" w="12700">
            <a:solidFill>
              <a:srgbClr val="6A8D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6510528" y="4654296"/>
            <a:ext cx="481888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Performance &amp; resilience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6510528" y="5038344"/>
            <a:ext cx="481888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Interactive versus batch, peak volume, retries, resumability, fallback to manual review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960120" y="5852160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Ask: “What would need to be established before this specific data flow or tool action could be approved?”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1"/>
          <p:cNvSpPr txBox="1"/>
          <p:nvPr>
            <p:ph idx="4294967295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E6B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"/>
          <p:cNvSpPr/>
          <p:nvPr/>
        </p:nvSpPr>
        <p:spPr>
          <a:xfrm>
            <a:off x="548640" y="347472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STAKEHOLDER PLAN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548640" y="71323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Use each interview to resolve a different decision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566928" y="129844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All interviews use the same discovery loop, but each stakeholder owns a different part of the MVP boundary.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621792" y="1755648"/>
            <a:ext cx="1828800" cy="640080"/>
          </a:xfrm>
          <a:prstGeom prst="roundRect">
            <a:avLst>
              <a:gd fmla="val 14286" name="adj"/>
            </a:avLst>
          </a:prstGeom>
          <a:solidFill>
            <a:srgbClr val="0B2E4F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777240" y="187452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Victor Ong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777240" y="2130552"/>
            <a:ext cx="1508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E3E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D8E3EA"/>
                </a:solidFill>
                <a:latin typeface="Arial"/>
                <a:ea typeface="Arial"/>
                <a:cs typeface="Arial"/>
                <a:sym typeface="Arial"/>
              </a:rPr>
              <a:t>Executive outcome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2651760" y="1755648"/>
            <a:ext cx="8887968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2880360" y="187452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What result justifies expansion? What risk stops the project? Who owns the production decision?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621792" y="2624328"/>
            <a:ext cx="1828800" cy="640080"/>
          </a:xfrm>
          <a:prstGeom prst="roundRect">
            <a:avLst>
              <a:gd fmla="val 14286" name="adj"/>
            </a:avLst>
          </a:prstGeom>
          <a:solidFill>
            <a:srgbClr val="153F62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777240" y="274320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Grace Lim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777240" y="2999232"/>
            <a:ext cx="1508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E3E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D8E3EA"/>
                </a:solidFill>
                <a:latin typeface="Arial"/>
                <a:ea typeface="Arial"/>
                <a:cs typeface="Arial"/>
                <a:sym typeface="Arial"/>
              </a:rPr>
              <a:t>Operations and demo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2651760" y="2624328"/>
            <a:ext cx="8887968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2880360" y="274320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Show a recent review. Where is effort spent? What leadership demonstration would be credible?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621792" y="3493008"/>
            <a:ext cx="1828800" cy="640080"/>
          </a:xfrm>
          <a:prstGeom prst="roundRect">
            <a:avLst>
              <a:gd fmla="val 14286" name="adj"/>
            </a:avLst>
          </a:prstGeom>
          <a:solidFill>
            <a:srgbClr val="0B2E4F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777240" y="361188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Raj Menon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777240" y="3867912"/>
            <a:ext cx="1508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E3E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D8E3EA"/>
                </a:solidFill>
                <a:latin typeface="Arial"/>
                <a:ea typeface="Arial"/>
                <a:cs typeface="Arial"/>
                <a:sym typeface="Arial"/>
              </a:rPr>
              <a:t>Compliance and control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2651760" y="3493008"/>
            <a:ext cx="8887968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2880360" y="36118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Show a difficult case. What evidence, escalation and human accountability are mandatory?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621792" y="4361688"/>
            <a:ext cx="1828800" cy="640080"/>
          </a:xfrm>
          <a:prstGeom prst="roundRect">
            <a:avLst>
              <a:gd fmla="val 14286" name="adj"/>
            </a:avLst>
          </a:prstGeom>
          <a:solidFill>
            <a:srgbClr val="153F62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777240" y="448056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 Tan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777240" y="4736592"/>
            <a:ext cx="1508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E3E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D8E3EA"/>
                </a:solidFill>
                <a:latin typeface="Arial"/>
                <a:ea typeface="Arial"/>
                <a:cs typeface="Arial"/>
                <a:sym typeface="Arial"/>
              </a:rPr>
              <a:t>Data and feasibility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2651760" y="4361688"/>
            <a:ext cx="8887968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2880360" y="448056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Show how required sources are accessed, authorized, hosted, logged and supported.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621792" y="5230368"/>
            <a:ext cx="1828800" cy="640080"/>
          </a:xfrm>
          <a:prstGeom prst="roundRect">
            <a:avLst>
              <a:gd fmla="val 14286" name="adj"/>
            </a:avLst>
          </a:prstGeom>
          <a:solidFill>
            <a:srgbClr val="0B2E4F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777240" y="534924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Anna Cruz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777240" y="5605272"/>
            <a:ext cx="1508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E3EA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D8E3EA"/>
                </a:solidFill>
                <a:latin typeface="Arial"/>
                <a:ea typeface="Arial"/>
                <a:cs typeface="Arial"/>
                <a:sym typeface="Arial"/>
              </a:rPr>
              <a:t>Commercial baseline</a:t>
            </a:r>
            <a:endParaRPr sz="8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2651760" y="5230368"/>
            <a:ext cx="8887968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2880360" y="534924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120"/>
              <a:buFont typeface="Arial"/>
              <a:buNone/>
            </a:pPr>
            <a:r>
              <a:rPr lang="en-US" sz="112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Walk through current cost per review, internal effort, rework and contract constraints.</a:t>
            </a:r>
            <a:endParaRPr sz="112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1097280" y="6080760"/>
            <a:ext cx="9966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Also request interviews with KYC analysts, QA reviewers, security, architecture, model risk and platform operations.</a:t>
            </a:r>
            <a:endParaRPr sz="12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2"/>
          <p:cNvSpPr txBox="1"/>
          <p:nvPr>
            <p:ph idx="4294967295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E6B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"/>
          <p:cNvSpPr/>
          <p:nvPr/>
        </p:nvSpPr>
        <p:spPr>
          <a:xfrm>
            <a:off x="548640" y="347472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EVALUATION DISCOVERY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548640" y="71323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Define “good enough” from actual historical cases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566928" y="129844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The MVP needs an agreed evidence set, component-level measures and hard stop conditions.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685800" y="1783080"/>
            <a:ext cx="2788920" cy="3886200"/>
          </a:xfrm>
          <a:prstGeom prst="roundRect">
            <a:avLst>
              <a:gd fmla="val 3279" name="adj"/>
            </a:avLst>
          </a:prstGeom>
          <a:solidFill>
            <a:srgbClr val="0B2E4F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914400" y="205740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CASE SET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1005840" y="2651760"/>
            <a:ext cx="210312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E4EDF3"/>
                </a:solidFill>
                <a:latin typeface="Arial"/>
                <a:ea typeface="Arial"/>
                <a:cs typeface="Arial"/>
                <a:sym typeface="Arial"/>
              </a:rPr>
              <a:t>• Strong review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E4EDF3"/>
                </a:solidFill>
                <a:latin typeface="Arial"/>
                <a:ea typeface="Arial"/>
                <a:cs typeface="Arial"/>
                <a:sym typeface="Arial"/>
              </a:rPr>
              <a:t>• Weak / returned review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E4EDF3"/>
                </a:solidFill>
                <a:latin typeface="Arial"/>
                <a:ea typeface="Arial"/>
                <a:cs typeface="Arial"/>
                <a:sym typeface="Arial"/>
              </a:rPr>
              <a:t>• Difficult recommendation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E4EDF3"/>
                </a:solidFill>
                <a:latin typeface="Arial"/>
                <a:ea typeface="Arial"/>
                <a:cs typeface="Arial"/>
                <a:sym typeface="Arial"/>
              </a:rPr>
              <a:t>• Missing information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E4EDF3"/>
                </a:solidFill>
                <a:latin typeface="Arial"/>
                <a:ea typeface="Arial"/>
                <a:cs typeface="Arial"/>
                <a:sym typeface="Arial"/>
              </a:rPr>
              <a:t>• Conflicting sources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E4EDF3"/>
                </a:solidFill>
                <a:latin typeface="Arial"/>
                <a:ea typeface="Arial"/>
                <a:cs typeface="Arial"/>
                <a:sym typeface="Arial"/>
              </a:rPr>
              <a:t>• Required escalation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EDF3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E4EDF3"/>
                </a:solidFill>
                <a:latin typeface="Arial"/>
                <a:ea typeface="Arial"/>
                <a:cs typeface="Arial"/>
                <a:sym typeface="Arial"/>
              </a:rPr>
              <a:t>• Unauthorized-action attempt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3794760" y="1783080"/>
            <a:ext cx="7452360" cy="630936"/>
          </a:xfrm>
          <a:prstGeom prst="roundRect">
            <a:avLst>
              <a:gd fmla="val 11594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3794760" y="1783080"/>
            <a:ext cx="64008" cy="630936"/>
          </a:xfrm>
          <a:prstGeom prst="rect">
            <a:avLst/>
          </a:prstGeom>
          <a:solidFill>
            <a:srgbClr val="198A8A"/>
          </a:solidFill>
          <a:ln cap="flat" cmpd="sng" w="12700">
            <a:solidFill>
              <a:srgbClr val="19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4023360" y="1965960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3"/>
          <p:cNvSpPr/>
          <p:nvPr/>
        </p:nvSpPr>
        <p:spPr>
          <a:xfrm flipH="1" rot="10800000">
            <a:off x="4023360" y="2267712"/>
            <a:ext cx="704088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Source selection, retrieval and extraction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3794760" y="2578608"/>
            <a:ext cx="7452360" cy="630936"/>
          </a:xfrm>
          <a:prstGeom prst="roundRect">
            <a:avLst>
              <a:gd fmla="val 11594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3794760" y="2578608"/>
            <a:ext cx="64008" cy="630936"/>
          </a:xfrm>
          <a:prstGeom prst="rect">
            <a:avLst/>
          </a:prstGeom>
          <a:solidFill>
            <a:srgbClr val="C6984A"/>
          </a:solidFill>
          <a:ln cap="flat" cmpd="sng" w="12700">
            <a:solidFill>
              <a:srgbClr val="C698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4023360" y="2761488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Reasoning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3"/>
          <p:cNvSpPr/>
          <p:nvPr/>
        </p:nvSpPr>
        <p:spPr>
          <a:xfrm flipH="1" rot="10800000">
            <a:off x="4023360" y="3063240"/>
            <a:ext cx="704088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Material-change detection and policy adherence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3794760" y="3374136"/>
            <a:ext cx="7452360" cy="630936"/>
          </a:xfrm>
          <a:prstGeom prst="roundRect">
            <a:avLst>
              <a:gd fmla="val 11594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3794760" y="3374136"/>
            <a:ext cx="64008" cy="630936"/>
          </a:xfrm>
          <a:prstGeom prst="rect">
            <a:avLst/>
          </a:prstGeom>
          <a:solidFill>
            <a:srgbClr val="F06455"/>
          </a:solidFill>
          <a:ln cap="flat" cmpd="sng" w="12700">
            <a:solidFill>
              <a:srgbClr val="F06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4023360" y="3557016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3"/>
          <p:cNvSpPr/>
          <p:nvPr/>
        </p:nvSpPr>
        <p:spPr>
          <a:xfrm flipH="1" rot="10800000">
            <a:off x="4023360" y="3858768"/>
            <a:ext cx="704088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Narrative completeness, grounding and citations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3794760" y="4169664"/>
            <a:ext cx="7452360" cy="630936"/>
          </a:xfrm>
          <a:prstGeom prst="roundRect">
            <a:avLst>
              <a:gd fmla="val 11594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3794760" y="4169664"/>
            <a:ext cx="64008" cy="630936"/>
          </a:xfrm>
          <a:prstGeom prst="rect">
            <a:avLst/>
          </a:prstGeom>
          <a:solidFill>
            <a:srgbClr val="BE4B49"/>
          </a:solidFill>
          <a:ln cap="flat" cmpd="sng" w="12700">
            <a:solidFill>
              <a:srgbClr val="BE4B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4023360" y="4352544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 flipH="1" rot="10800000">
            <a:off x="4023360" y="4654296"/>
            <a:ext cx="704088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Escalation behavior and authorization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3794760" y="4965192"/>
            <a:ext cx="7452360" cy="630936"/>
          </a:xfrm>
          <a:prstGeom prst="roundRect">
            <a:avLst>
              <a:gd fmla="val 11594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3794760" y="4965192"/>
            <a:ext cx="64008" cy="630936"/>
          </a:xfrm>
          <a:prstGeom prst="rect">
            <a:avLst/>
          </a:prstGeom>
          <a:solidFill>
            <a:srgbClr val="6A8D73"/>
          </a:solidFill>
          <a:ln cap="flat" cmpd="sng" w="12700">
            <a:solidFill>
              <a:srgbClr val="6A8D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4023360" y="514807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Acceptance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3"/>
          <p:cNvSpPr/>
          <p:nvPr/>
        </p:nvSpPr>
        <p:spPr>
          <a:xfrm flipH="1" rot="10800000">
            <a:off x="4023360" y="5449824"/>
            <a:ext cx="7040880" cy="8229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Analyst / QA approval and override reasons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3931920" y="594360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Success gate: jointly agreed thresholds for analyst-assisted use, plus explicit conditions that stop rollout.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 txBox="1"/>
          <p:nvPr>
            <p:ph idx="4294967295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E6B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"/>
          <p:cNvSpPr/>
          <p:nvPr/>
        </p:nvSpPr>
        <p:spPr>
          <a:xfrm>
            <a:off x="548640" y="347472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DECIDE WHAT TO BUILD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548640" y="71323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Prioritize opportunities by impact and feasibility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566928" y="129844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The room decides. Operations assesses impact, Compliance sets control limits, and Engineering assesses near-term feasibility.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14"/>
          <p:cNvCxnSpPr/>
          <p:nvPr/>
        </p:nvCxnSpPr>
        <p:spPr>
          <a:xfrm>
            <a:off x="1325880" y="5486400"/>
            <a:ext cx="9418320" cy="1"/>
          </a:xfrm>
          <a:prstGeom prst="straightConnector1">
            <a:avLst/>
          </a:prstGeom>
          <a:noFill/>
          <a:ln cap="flat" cmpd="sng" w="19050">
            <a:solidFill>
              <a:srgbClr val="0B2E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0" name="Google Shape;340;p14"/>
          <p:cNvCxnSpPr/>
          <p:nvPr/>
        </p:nvCxnSpPr>
        <p:spPr>
          <a:xfrm flipH="1" rot="10800000">
            <a:off x="1325880" y="1828800"/>
            <a:ext cx="1" cy="3657600"/>
          </a:xfrm>
          <a:prstGeom prst="straightConnector1">
            <a:avLst/>
          </a:prstGeom>
          <a:noFill/>
          <a:ln cap="flat" cmpd="sng" w="19050">
            <a:solidFill>
              <a:srgbClr val="0B2E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1" name="Google Shape;341;p14"/>
          <p:cNvCxnSpPr/>
          <p:nvPr/>
        </p:nvCxnSpPr>
        <p:spPr>
          <a:xfrm>
            <a:off x="6035040" y="1828800"/>
            <a:ext cx="1" cy="3657600"/>
          </a:xfrm>
          <a:prstGeom prst="straightConnector1">
            <a:avLst/>
          </a:prstGeom>
          <a:noFill/>
          <a:ln cap="flat" cmpd="sng" w="12700">
            <a:solidFill>
              <a:srgbClr val="B9B0A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2" name="Google Shape;342;p14"/>
          <p:cNvCxnSpPr/>
          <p:nvPr/>
        </p:nvCxnSpPr>
        <p:spPr>
          <a:xfrm>
            <a:off x="1325880" y="3657600"/>
            <a:ext cx="9418320" cy="1"/>
          </a:xfrm>
          <a:prstGeom prst="straightConnector1">
            <a:avLst/>
          </a:prstGeom>
          <a:noFill/>
          <a:ln cap="flat" cmpd="sng" w="12700">
            <a:solidFill>
              <a:srgbClr val="B9B0A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14"/>
          <p:cNvSpPr/>
          <p:nvPr/>
        </p:nvSpPr>
        <p:spPr>
          <a:xfrm rot="-5400000">
            <a:off x="438912" y="3337560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5029200" y="577900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FEASIBILITY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1828800" y="20574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984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C6984A"/>
                </a:solidFill>
                <a:latin typeface="Arial"/>
                <a:ea typeface="Arial"/>
                <a:cs typeface="Arial"/>
                <a:sym typeface="Arial"/>
              </a:rPr>
              <a:t>BIG BETS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1828800" y="237744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High impact, harder now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6492240" y="20574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NO-BRAINERS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6492240" y="237744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High impact, feasible now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1828800" y="391363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HARD PASSES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1828800" y="423367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Low impact, hard now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6492240" y="3913632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8A8A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98A8A"/>
                </a:solidFill>
                <a:latin typeface="Arial"/>
                <a:ea typeface="Arial"/>
                <a:cs typeface="Arial"/>
                <a:sym typeface="Arial"/>
              </a:rPr>
              <a:t>DISTRACTIONS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6492240" y="4233672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Easy, but lower impact</a:t>
            </a:r>
            <a:endParaRPr sz="9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"/>
          <p:cNvSpPr/>
          <p:nvPr/>
        </p:nvSpPr>
        <p:spPr>
          <a:xfrm rot="-120000">
            <a:off x="7315200" y="2743200"/>
            <a:ext cx="1234440" cy="512064"/>
          </a:xfrm>
          <a:prstGeom prst="rect">
            <a:avLst/>
          </a:prstGeom>
          <a:solidFill>
            <a:srgbClr val="FFE4A6"/>
          </a:solidFill>
          <a:ln cap="flat" cmpd="sng" w="12700">
            <a:solidFill>
              <a:srgbClr val="D0B5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7388352" y="2852928"/>
            <a:ext cx="1088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Evidence retrieval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"/>
          <p:cNvSpPr/>
          <p:nvPr/>
        </p:nvSpPr>
        <p:spPr>
          <a:xfrm rot="120000">
            <a:off x="8869680" y="2971800"/>
            <a:ext cx="1234440" cy="512064"/>
          </a:xfrm>
          <a:prstGeom prst="rect">
            <a:avLst/>
          </a:prstGeom>
          <a:solidFill>
            <a:srgbClr val="FFE4A6"/>
          </a:solidFill>
          <a:ln cap="flat" cmpd="sng" w="12700">
            <a:solidFill>
              <a:srgbClr val="D0B5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8942832" y="3081528"/>
            <a:ext cx="1088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Narrative draft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4"/>
          <p:cNvSpPr/>
          <p:nvPr/>
        </p:nvSpPr>
        <p:spPr>
          <a:xfrm rot="-120000">
            <a:off x="1920240" y="3063240"/>
            <a:ext cx="1234440" cy="512064"/>
          </a:xfrm>
          <a:prstGeom prst="rect">
            <a:avLst/>
          </a:prstGeom>
          <a:solidFill>
            <a:srgbClr val="FBE7B8"/>
          </a:solidFill>
          <a:ln cap="flat" cmpd="sng" w="12700">
            <a:solidFill>
              <a:srgbClr val="D0B5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1993392" y="3172968"/>
            <a:ext cx="1088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Autonomous closure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 rot="120000">
            <a:off x="7680960" y="4617720"/>
            <a:ext cx="1234440" cy="512064"/>
          </a:xfrm>
          <a:prstGeom prst="rect">
            <a:avLst/>
          </a:prstGeom>
          <a:solidFill>
            <a:srgbClr val="FBE7B8"/>
          </a:solidFill>
          <a:ln cap="flat" cmpd="sng" w="12700">
            <a:solidFill>
              <a:srgbClr val="D0B5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7754112" y="4727448"/>
            <a:ext cx="1088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General KYC chatbot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 rot="-120000">
            <a:off x="4023360" y="2651760"/>
            <a:ext cx="1234440" cy="512064"/>
          </a:xfrm>
          <a:prstGeom prst="rect">
            <a:avLst/>
          </a:prstGeom>
          <a:solidFill>
            <a:srgbClr val="FBE7B8"/>
          </a:solidFill>
          <a:ln cap="flat" cmpd="sng" w="12700">
            <a:solidFill>
              <a:srgbClr val="D0B5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4096512" y="2761488"/>
            <a:ext cx="10881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Cross-system orchestration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"/>
          <p:cNvSpPr txBox="1"/>
          <p:nvPr>
            <p:ph idx="4294967295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E6B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"/>
          <p:cNvSpPr/>
          <p:nvPr/>
        </p:nvSpPr>
        <p:spPr>
          <a:xfrm>
            <a:off x="548640" y="347472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6455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06455"/>
                </a:solidFill>
                <a:latin typeface="Arial"/>
                <a:ea typeface="Arial"/>
                <a:cs typeface="Arial"/>
                <a:sym typeface="Arial"/>
              </a:rPr>
              <a:t>WORKING MVP HYPOTHESIS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548640" y="713232"/>
            <a:ext cx="109728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A controlled analyst-assist workflow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566928" y="1298448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B66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This is the starting hypothesis to validate, not a predetermined solution.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generated_image_6415142F6402_02.png" id="372" name="Google Shape;372;p15"/>
          <p:cNvPicPr preferRelativeResize="0"/>
          <p:nvPr/>
        </p:nvPicPr>
        <p:blipFill rotWithShape="1">
          <a:blip r:embed="rId3">
            <a:alphaModFix/>
          </a:blip>
          <a:srcRect b="0" l="15803" r="15803" t="0"/>
          <a:stretch/>
        </p:blipFill>
        <p:spPr>
          <a:xfrm>
            <a:off x="7269480" y="1755648"/>
            <a:ext cx="4343400" cy="423367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5"/>
          <p:cNvSpPr/>
          <p:nvPr/>
        </p:nvSpPr>
        <p:spPr>
          <a:xfrm>
            <a:off x="658368" y="1700784"/>
            <a:ext cx="6080760" cy="1024128"/>
          </a:xfrm>
          <a:prstGeom prst="roundRect">
            <a:avLst>
              <a:gd fmla="val 8929" name="adj"/>
            </a:avLst>
          </a:prstGeom>
          <a:solidFill>
            <a:srgbClr val="0B2E4F"/>
          </a:solidFill>
          <a:ln cap="flat" cmpd="sng" w="12700">
            <a:solidFill>
              <a:srgbClr val="0B2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914400" y="1938528"/>
            <a:ext cx="5577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Retrieve permitted KYC information, compare it with the prior review, identify material changes and missing evidence, then draft an evidence-grounded recommendation for human approval.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658368" y="3063240"/>
            <a:ext cx="288036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658368" y="3063240"/>
            <a:ext cx="64008" cy="2286000"/>
          </a:xfrm>
          <a:prstGeom prst="rect">
            <a:avLst/>
          </a:prstGeom>
          <a:solidFill>
            <a:srgbClr val="198A8A"/>
          </a:solidFill>
          <a:ln cap="flat" cmpd="sng" w="12700">
            <a:solidFill>
              <a:srgbClr val="198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886968" y="32461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Likely in scope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886968" y="3630168"/>
            <a:ext cx="246888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Read-only sources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Current vs. prior comparison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Evidence-linked summary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Missing-information flags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Draft narrative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Human approval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3840480" y="3063240"/>
            <a:ext cx="288036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2700">
            <a:solidFill>
              <a:srgbClr val="DDD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3840480" y="3063240"/>
            <a:ext cx="64008" cy="2286000"/>
          </a:xfrm>
          <a:prstGeom prst="rect">
            <a:avLst/>
          </a:prstGeom>
          <a:solidFill>
            <a:srgbClr val="BE4B49"/>
          </a:solidFill>
          <a:ln cap="flat" cmpd="sng" w="12700">
            <a:solidFill>
              <a:srgbClr val="BE4B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4069080" y="32461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E4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B2E4F"/>
                </a:solidFill>
                <a:latin typeface="Arial"/>
                <a:ea typeface="Arial"/>
                <a:cs typeface="Arial"/>
                <a:sym typeface="Arial"/>
              </a:rPr>
              <a:t>Likely out of scope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4069080" y="3630168"/>
            <a:ext cx="2468880" cy="1572768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Autonomous closure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Risk-rating changes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Unrestricted web research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Broad production write-back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All jurisdictions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1E2933"/>
                </a:solidFill>
                <a:latin typeface="Arial"/>
                <a:ea typeface="Arial"/>
                <a:cs typeface="Arial"/>
                <a:sym typeface="Arial"/>
              </a:rPr>
              <a:t>Unproven multi-agent design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1325880" y="5715000"/>
            <a:ext cx="5303520" cy="548640"/>
          </a:xfrm>
          <a:prstGeom prst="roundRect">
            <a:avLst>
              <a:gd fmla="val 16667" name="adj"/>
            </a:avLst>
          </a:prstGeom>
          <a:solidFill>
            <a:srgbClr val="F06455"/>
          </a:solidFill>
          <a:ln cap="flat" cmpd="sng" w="12700">
            <a:solidFill>
              <a:srgbClr val="F064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1536192" y="5879592"/>
            <a:ext cx="4892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decision: which real case best proves backlog reduction safely?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5"/>
          <p:cNvSpPr txBox="1"/>
          <p:nvPr>
            <p:ph idx="4294967295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800">
                <a:solidFill>
                  <a:srgbClr val="6E6B6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>
              <a:solidFill>
                <a:srgbClr val="6E6B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